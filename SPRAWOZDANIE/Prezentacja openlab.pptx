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275" tIns="50125" rIns="100275" bIns="501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275" tIns="50125" rIns="100275" bIns="501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275" tIns="50125" rIns="100275" bIns="501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275" tIns="50125" rIns="100275" bIns="501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2fae564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2fae56488_0_0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e2fae56488_0_0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fae5648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2fae56488_0_7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e2fae56488_0_7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2fae5648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2fae56488_0_1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e2fae56488_0_14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fae5648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fae56488_0_20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e2fae56488_0_20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fae5648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2fae56488_0_48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e2fae56488_0_48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fae5648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2fae56488_0_32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e2fae56488_0_32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2fae5648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2fae56488_0_54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e2fae56488_0_54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2fae5648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2fae56488_0_42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e2fae56488_0_42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2fae5648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2fae56488_0_63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2fae56488_0_63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2fae56488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2fae56488_0_71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2fae56488_0_71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2fae5648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2fae56488_0_77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e2fae56488_0_77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2fae5648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2fae56488_0_85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2fae56488_0_85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fae5648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00" cy="3721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fae56488_0_26:notes"/>
          <p:cNvSpPr txBox="1">
            <a:spLocks noGrp="1"/>
          </p:cNvSpPr>
          <p:nvPr>
            <p:ph type="body" idx="1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</p:spPr>
        <p:txBody>
          <a:bodyPr spcFirstLastPara="1" wrap="square" lIns="100275" tIns="50125" rIns="100275" bIns="50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e2fae56488_0_26:notes"/>
          <p:cNvSpPr txBox="1">
            <a:spLocks noGrp="1"/>
          </p:cNvSpPr>
          <p:nvPr>
            <p:ph type="sldNum" idx="12"/>
          </p:nvPr>
        </p:nvSpPr>
        <p:spPr>
          <a:xfrm>
            <a:off x="3851275" y="9428163"/>
            <a:ext cx="2944800" cy="496800"/>
          </a:xfrm>
          <a:prstGeom prst="rect">
            <a:avLst/>
          </a:prstGeom>
        </p:spPr>
        <p:txBody>
          <a:bodyPr spcFirstLastPara="1" wrap="square" lIns="100275" tIns="50125" rIns="100275" bIns="50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 1">
  <p:cSld name="Slajd tytułow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87351" y="2420939"/>
            <a:ext cx="115209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>
            <a:spLocks noGrp="1"/>
          </p:cNvSpPr>
          <p:nvPr>
            <p:ph type="pic" idx="2"/>
          </p:nvPr>
        </p:nvSpPr>
        <p:spPr>
          <a:xfrm>
            <a:off x="1871531" y="1988840"/>
            <a:ext cx="10152600" cy="4752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/>
            </a:lvl9pPr>
          </a:lstStyle>
          <a:p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0"/>
            <a:ext cx="1678800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695" y="136682"/>
            <a:ext cx="1228208" cy="177873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256085" y="5081591"/>
            <a:ext cx="1152000" cy="13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l="2490" t="-3053" r="-539" b="2943"/>
          <a:stretch/>
        </p:blipFill>
        <p:spPr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529" y="5231107"/>
            <a:ext cx="937243" cy="42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06275" y="125350"/>
            <a:ext cx="31548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Dominik Bukowicz 		268519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 Mikołajczyk 			268563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Wojciech Odziomek 		264259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Wojciech Kośnik-Kowalczuk 245728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Cel projektu - inteligentny karmnik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871525" y="1564850"/>
            <a:ext cx="8526300" cy="41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Głównym celem projektu było zaprojektowanie i wykonanie autonomicznego systemu monitoringu ptaków, zintegrowanego z karmnikiem wykonanym w technologii druku 3D. Urządzenie ma za zadanie wykrywać obecność ptaków wewnątrz karmnika, wykonywać zdjęcie i przesyłać je w czasie rzeczywistym do użytkownika za pośrednictwem komunikatora Telegram.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Założenia projektowe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Jednostka centralna: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Moduł ESP32-CAM z wbudowaną kamerą i łącznością Wi-Fi.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Detekcja: 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Ultradźwiękowy czujnik odległości HC-SR04 wykrywający obiekt w zasięgu 2–200 cm.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Zasilanie: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Bateria 9V, obniżana do stabilnego poziomu 5V za pomocą przetwornicy impulsowej.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energii: 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Analogowy wskaźnik napięcia na komparatorze LM339, sygnalizujący poziom rozładowania baterii za pomocą 4 diod LED.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Komunikacja: 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 Bot API (interakcja przez Father Bot).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Obudowa: 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Konstrukcja modułowa zaprojektowana do druku 3D.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Uzasadnienie doboru elementów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ESP32-CAM: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Wybrany ze względu na zintegrowany moduł Wi-Fi oraz niską cenę w stosunku do możliwości przetwarzania obrazu.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HC-SR04: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Czujnik ten pozwala na precyzyjne określenie momentu pojawienia się ptaka przy ziarnie, co minimalizuje liczbę "pustych" zdjęć, w przypadku gdyby były one robione z określoną częstotliwością.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Przetwornica LM2592 (Step-down):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Zastosowanie przetwornicy impulsowej zamiast stabilizatora liniowego (np. 7805) pozwala na uzyskanie znacznie wyższej sprawności, co jest kluczowe przy zasilaniu bateryjnym.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LM339: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Poczwórny komparator napięcia pozwala na realizację czytelnego, 4-stopniowego wskaźnika poziomu energii przy minimalnej liczbie komponentów zewnętrznych.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Uzasadnienie doboru elementów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teoretyczna: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Układ działa jako dzielnik napięcia porównujący napięcie baterii z napięciem odniesienia (5V z przetwornicy). Próg załączenia diody LED określa wzór: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Vth = Vref (1+ (Rpot_h / Rpot_l))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gdzie: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pl-PL" sz="22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stałe napięcie 5V, a stosunek rezystancji potencjometru określa punkt krytyczny dla baterii 9V.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1871556" y="4788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 lnSpcReduction="10000"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Symulacja działania układu elektronicznego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350" y="2977625"/>
            <a:ext cx="8549200" cy="34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813" y="152474"/>
            <a:ext cx="10034276" cy="23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1790531" y="114307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Projekt płytki PCB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525" y="1924937"/>
            <a:ext cx="5494500" cy="32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5100" y="1961000"/>
            <a:ext cx="443865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Testy zaprojektowanego układu</a:t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Kalibracja wskaźnika: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 wejścia baterii podłączono zasilacz laboratoryjny. Zmieniając napięcie od 9.5V w dół, regulowano potencjometry tak, aby diody gasły kolejno przy poziomach: 8.5V, 7.8V, 7.0V oraz 6.5V. W celu uzyskania napięcia odniesienia Uref na czas testów wykorzystano pin 5V z ESP32.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pl-PL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Weryfikacja zasilania: </a:t>
            </a:r>
            <a:r>
              <a:rPr lang="pl-PL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Przetwornica LM2592 utrzymywała stabilne 5.02V przy obciążeniu modułem ESP32 podczas transmisji danych, co potwierdziło poprawność doboru układu zasilania. 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8557013" y="3992738"/>
            <a:ext cx="2230400" cy="30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945252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 dirty="0"/>
              <a:t>Oprogramowanie sterujące</a:t>
            </a:r>
            <a:br>
              <a:rPr lang="pl-PL" dirty="0"/>
            </a:br>
            <a:r>
              <a:rPr lang="pl-PL" sz="3800" dirty="0"/>
              <a:t>Schemat blokowy</a:t>
            </a:r>
            <a:endParaRPr dirty="0"/>
          </a:p>
        </p:txBody>
      </p:sp>
      <p:sp>
        <p:nvSpPr>
          <p:cNvPr id="2" name="AutoShape 2" descr="Schemat blokowy systemu sterowania">
            <a:extLst>
              <a:ext uri="{FF2B5EF4-FFF2-40B4-BE49-F238E27FC236}">
                <a16:creationId xmlns:a16="http://schemas.microsoft.com/office/drawing/2014/main" id="{B995330F-291E-610C-660C-F31DAFA409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F6D26B6-744A-DB40-BAEA-937F029E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261" y="947582"/>
            <a:ext cx="3940278" cy="59104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073071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Komunikacja z aplikacją Telegram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BB5D4252-B111-709A-255F-7C44F5E44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439" y="1189703"/>
            <a:ext cx="6893398" cy="241873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A80059D-EBCC-2006-A465-9362FC82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439" y="3890014"/>
            <a:ext cx="3697460" cy="267002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3690DCC-2970-B92A-E28B-B96B8A2C3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531" y="1189703"/>
            <a:ext cx="2995437" cy="537033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B1DF47C-7E1D-373F-8390-62B106BE0E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832" y="3890012"/>
            <a:ext cx="2870299" cy="26733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Projekt obudowy karmnika</a:t>
            </a:r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223" y="1614900"/>
            <a:ext cx="7130730" cy="501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837097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tx1"/>
                </a:solidFill>
              </a:rPr>
              <a:t>Efekt końcowy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1916550" y="1888875"/>
            <a:ext cx="9599700" cy="4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B5FAC0D6-567E-7A53-D821-FFAC2964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75" t="7101" r="18172" b="4420"/>
          <a:stretch>
            <a:fillRect/>
          </a:stretch>
        </p:blipFill>
        <p:spPr>
          <a:xfrm>
            <a:off x="1916550" y="953729"/>
            <a:ext cx="10107581" cy="56742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>
            <a:spLocks noGrp="1"/>
          </p:cNvSpPr>
          <p:nvPr>
            <p:ph type="pic" idx="2"/>
          </p:nvPr>
        </p:nvSpPr>
        <p:spPr>
          <a:xfrm>
            <a:off x="1871531" y="1988840"/>
            <a:ext cx="10152600" cy="4752600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160" name="Google Shape;160;p27"/>
          <p:cNvSpPr txBox="1">
            <a:spLocks noGrp="1"/>
          </p:cNvSpPr>
          <p:nvPr>
            <p:ph type="body" idx="1"/>
          </p:nvPr>
        </p:nvSpPr>
        <p:spPr>
          <a:xfrm>
            <a:off x="1871531" y="116632"/>
            <a:ext cx="10152600" cy="1728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80"/>
              </a:spcBef>
              <a:spcAft>
                <a:spcPts val="0"/>
              </a:spcAft>
              <a:buNone/>
            </a:pPr>
            <a:r>
              <a:rPr lang="pl-PL"/>
              <a:t>Dziękujemy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Office PowerPoint</Application>
  <PresentationFormat>Panoramiczny</PresentationFormat>
  <Paragraphs>46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Wojciech Kośnik-Kowalczuk</cp:lastModifiedBy>
  <cp:revision>2</cp:revision>
  <dcterms:modified xsi:type="dcterms:W3CDTF">2026-05-19T22:59:04Z</dcterms:modified>
</cp:coreProperties>
</file>